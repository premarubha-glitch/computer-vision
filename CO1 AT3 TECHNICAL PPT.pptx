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ptos Bold" charset="1" panose="020B0004020202020204"/>
      <p:regular r:id="rId16"/>
    </p:embeddedFont>
    <p:embeddedFont>
      <p:font typeface="Calibri (MS)" charset="1" panose="020F0502020204030204"/>
      <p:regular r:id="rId17"/>
    </p:embeddedFont>
    <p:embeddedFont>
      <p:font typeface="Aptos" charset="1" panose="020B00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2757" y="6484458"/>
            <a:ext cx="9923369" cy="71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4798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ITA0510 · COMPUTER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6906" y="4494295"/>
            <a:ext cx="16876691" cy="2342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5"/>
              </a:lnSpc>
            </a:pPr>
            <a:r>
              <a:rPr lang="en-US" b="true" sz="5104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Investigate the impact of environmental conditions on image acquisition, identifying real-world </a:t>
            </a:r>
          </a:p>
          <a:p>
            <a:pPr algn="ctr">
              <a:lnSpc>
                <a:spcPts val="612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57782" y="456251"/>
            <a:ext cx="14894939" cy="2225920"/>
          </a:xfrm>
          <a:custGeom>
            <a:avLst/>
            <a:gdLst/>
            <a:ahLst/>
            <a:cxnLst/>
            <a:rect r="r" b="b" t="t" l="l"/>
            <a:pathLst>
              <a:path h="2225920" w="14894939">
                <a:moveTo>
                  <a:pt x="0" y="0"/>
                </a:moveTo>
                <a:lnTo>
                  <a:pt x="14894939" y="0"/>
                </a:lnTo>
                <a:lnTo>
                  <a:pt x="14894939" y="2225920"/>
                </a:lnTo>
                <a:lnTo>
                  <a:pt x="0" y="2225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6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9298" y="3453696"/>
            <a:ext cx="9051908" cy="65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b="true" sz="4377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TECHNICAL PRESENTATION 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91436" y="7950508"/>
            <a:ext cx="5692440" cy="166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Presented by:</a:t>
            </a:r>
          </a:p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Jenica A (192425003)</a:t>
            </a:r>
          </a:p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Susmitha (192571068)</a:t>
            </a:r>
          </a:p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Premarubha N (192525020)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657" y="7950508"/>
            <a:ext cx="5692440" cy="83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Guided by:</a:t>
            </a:r>
          </a:p>
          <a:p>
            <a:pPr algn="l">
              <a:lnSpc>
                <a:spcPts val="3303"/>
              </a:lnSpc>
            </a:pPr>
            <a:r>
              <a:rPr lang="en-US" sz="2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Dr. Carmel Mary Belinda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2623" y="598539"/>
            <a:ext cx="15602855" cy="17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Environmental Conditions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vs. Image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3009" y="1943588"/>
            <a:ext cx="14641982" cy="428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Image acquisition is the first stage of computer vision, where cameras or sensors capture real-world scenes as digital images.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Environmental conditions such as lighting, rain, fog, dust, shadows, and glare can significantly affect the quality of captured images.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Poor environmental conditions may cause noise, blur, low contrast, distortion, and loss of important visual information.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These image-quality problems can reduce the accuracy of computer vision applications such as object detection, face recognition, surveillance, and autonomous driving.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Understanding environmental effects helps us develop better image enhancement techniques and robust computer vision systems that work reliably in real-world situations.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59621" y="7062111"/>
            <a:ext cx="2485111" cy="1043807"/>
            <a:chOff x="0" y="0"/>
            <a:chExt cx="3313481" cy="1391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3430" cy="1391666"/>
            </a:xfrm>
            <a:custGeom>
              <a:avLst/>
              <a:gdLst/>
              <a:ahLst/>
              <a:cxnLst/>
              <a:rect r="r" b="b" t="t" l="l"/>
              <a:pathLst>
                <a:path h="1391666" w="3313430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081528" y="0"/>
                  </a:lnTo>
                  <a:cubicBezTo>
                    <a:pt x="3209671" y="0"/>
                    <a:pt x="3313430" y="103886"/>
                    <a:pt x="3313430" y="231902"/>
                  </a:cubicBezTo>
                  <a:lnTo>
                    <a:pt x="3313430" y="1159764"/>
                  </a:lnTo>
                  <a:cubicBezTo>
                    <a:pt x="3313430" y="1287907"/>
                    <a:pt x="3209544" y="1391666"/>
                    <a:pt x="3081528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34D3EB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58214" y="7393715"/>
            <a:ext cx="22879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SCENE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38832" y="7334612"/>
            <a:ext cx="43482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26582" y="7062111"/>
            <a:ext cx="2485111" cy="1043807"/>
            <a:chOff x="0" y="0"/>
            <a:chExt cx="3313481" cy="13917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3430" cy="1391666"/>
            </a:xfrm>
            <a:custGeom>
              <a:avLst/>
              <a:gdLst/>
              <a:ahLst/>
              <a:cxnLst/>
              <a:rect r="r" b="b" t="t" l="l"/>
              <a:pathLst>
                <a:path h="1391666" w="3313430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081528" y="0"/>
                  </a:lnTo>
                  <a:cubicBezTo>
                    <a:pt x="3209671" y="0"/>
                    <a:pt x="3313430" y="103886"/>
                    <a:pt x="3313430" y="231902"/>
                  </a:cubicBezTo>
                  <a:lnTo>
                    <a:pt x="3313430" y="1159764"/>
                  </a:lnTo>
                  <a:cubicBezTo>
                    <a:pt x="3313430" y="1287907"/>
                    <a:pt x="3209544" y="1391666"/>
                    <a:pt x="3081528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FACC15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525175" y="7393715"/>
            <a:ext cx="22879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OPTICS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05793" y="7334612"/>
            <a:ext cx="43482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93543" y="7062111"/>
            <a:ext cx="2485111" cy="1043807"/>
            <a:chOff x="0" y="0"/>
            <a:chExt cx="3313481" cy="13917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13430" cy="1391666"/>
            </a:xfrm>
            <a:custGeom>
              <a:avLst/>
              <a:gdLst/>
              <a:ahLst/>
              <a:cxnLst/>
              <a:rect r="r" b="b" t="t" l="l"/>
              <a:pathLst>
                <a:path h="1391666" w="3313430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081528" y="0"/>
                  </a:lnTo>
                  <a:cubicBezTo>
                    <a:pt x="3209671" y="0"/>
                    <a:pt x="3313430" y="103886"/>
                    <a:pt x="3313430" y="231902"/>
                  </a:cubicBezTo>
                  <a:lnTo>
                    <a:pt x="3313430" y="1159764"/>
                  </a:lnTo>
                  <a:cubicBezTo>
                    <a:pt x="3313430" y="1287907"/>
                    <a:pt x="3209544" y="1391666"/>
                    <a:pt x="3081528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4ADE8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792126" y="7393715"/>
            <a:ext cx="22879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ADE80"/>
                </a:solidFill>
                <a:latin typeface="Aptos Bold"/>
                <a:ea typeface="Aptos Bold"/>
                <a:cs typeface="Aptos Bold"/>
                <a:sym typeface="Aptos Bold"/>
              </a:rPr>
              <a:t>SENSOR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2754" y="7334612"/>
            <a:ext cx="43482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60503" y="7062111"/>
            <a:ext cx="2485111" cy="1043807"/>
            <a:chOff x="0" y="0"/>
            <a:chExt cx="3313481" cy="13917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13430" cy="1391666"/>
            </a:xfrm>
            <a:custGeom>
              <a:avLst/>
              <a:gdLst/>
              <a:ahLst/>
              <a:cxnLst/>
              <a:rect r="r" b="b" t="t" l="l"/>
              <a:pathLst>
                <a:path h="1391666" w="3313430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081528" y="0"/>
                  </a:lnTo>
                  <a:cubicBezTo>
                    <a:pt x="3209671" y="0"/>
                    <a:pt x="3313430" y="103886"/>
                    <a:pt x="3313430" y="231902"/>
                  </a:cubicBezTo>
                  <a:lnTo>
                    <a:pt x="3313430" y="1159764"/>
                  </a:lnTo>
                  <a:cubicBezTo>
                    <a:pt x="3313430" y="1287907"/>
                    <a:pt x="3209544" y="1391666"/>
                    <a:pt x="3081528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34D3E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059087" y="7393715"/>
            <a:ext cx="22879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IMAGE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39714" y="7334612"/>
            <a:ext cx="43482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227464" y="7062111"/>
            <a:ext cx="2485111" cy="1043807"/>
            <a:chOff x="0" y="0"/>
            <a:chExt cx="3313481" cy="13917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13430" cy="1391666"/>
            </a:xfrm>
            <a:custGeom>
              <a:avLst/>
              <a:gdLst/>
              <a:ahLst/>
              <a:cxnLst/>
              <a:rect r="r" b="b" t="t" l="l"/>
              <a:pathLst>
                <a:path h="1391666" w="3313430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081528" y="0"/>
                  </a:lnTo>
                  <a:cubicBezTo>
                    <a:pt x="3209671" y="0"/>
                    <a:pt x="3313430" y="103886"/>
                    <a:pt x="3313430" y="231902"/>
                  </a:cubicBezTo>
                  <a:lnTo>
                    <a:pt x="3313430" y="1159764"/>
                  </a:lnTo>
                  <a:cubicBezTo>
                    <a:pt x="3313430" y="1287907"/>
                    <a:pt x="3209544" y="1391666"/>
                    <a:pt x="3081528" y="1391666"/>
                  </a:cubicBezTo>
                  <a:lnTo>
                    <a:pt x="231902" y="1391666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F87171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326057" y="7393715"/>
            <a:ext cx="22879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87171"/>
                </a:solidFill>
                <a:latin typeface="Aptos Bold"/>
                <a:ea typeface="Aptos Bold"/>
                <a:cs typeface="Aptos Bold"/>
                <a:sym typeface="Aptos Bold"/>
              </a:rPr>
              <a:t>CV MODEL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Image acquisition is the first point of failure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Environmental degradation occurs before the algorithm gets a chance to interpret the scene.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1983229"/>
            <a:ext cx="8113062" cy="6740395"/>
            <a:chOff x="0" y="0"/>
            <a:chExt cx="10817416" cy="89871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7352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817352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319514" y="0"/>
                  </a:lnTo>
                  <a:cubicBezTo>
                    <a:pt x="10146792" y="0"/>
                    <a:pt x="10817352" y="670687"/>
                    <a:pt x="10817352" y="1497838"/>
                  </a:cubicBezTo>
                  <a:lnTo>
                    <a:pt x="10817352" y="7489317"/>
                  </a:lnTo>
                  <a:cubicBezTo>
                    <a:pt x="10817352" y="8316595"/>
                    <a:pt x="10146665" y="8987155"/>
                    <a:pt x="9319514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7023" y="1983229"/>
            <a:ext cx="7975797" cy="6740395"/>
            <a:chOff x="0" y="0"/>
            <a:chExt cx="10634396" cy="89871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34345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634345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136507" y="0"/>
                  </a:lnTo>
                  <a:cubicBezTo>
                    <a:pt x="9963785" y="0"/>
                    <a:pt x="10634345" y="670687"/>
                    <a:pt x="10634345" y="1497838"/>
                  </a:cubicBezTo>
                  <a:lnTo>
                    <a:pt x="10634345" y="7489317"/>
                  </a:lnTo>
                  <a:cubicBezTo>
                    <a:pt x="10634345" y="8316595"/>
                    <a:pt x="9963658" y="8987155"/>
                    <a:pt x="9136507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64116" y="2447896"/>
            <a:ext cx="695501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IMAGE FORMATION CHAIN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744" y="3193342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Illumination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09459" y="3202867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changes photon count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2744" y="3989489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Object reflectance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9459" y="3999014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defines visible texture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2744" y="4785646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Atmosphere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09459" y="4795171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scatters / absorbs light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2744" y="5581793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Lens / exposure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9459" y="5591318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controls blur &amp; saturation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2744" y="6377940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Sensor sampling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09459" y="6387465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adds noise / quantization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2744" y="7174087"/>
            <a:ext cx="28370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Digital image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09459" y="7183612"/>
            <a:ext cx="366060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feeds the CV pipeline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48" y="2447896"/>
            <a:ext cx="654321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CORE INSIGHT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48" y="3271504"/>
            <a:ext cx="6543218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Garbage in → garbage out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48" y="4644171"/>
            <a:ext cx="6405944" cy="189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A detector trained on clean daylight images may fail when the input distribution shifts to night, fog, rain or glare.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48" y="7252249"/>
            <a:ext cx="6405944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Environmental robustness is therefore an acquisition + enhancement + model-design problem.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356" y="2120494"/>
            <a:ext cx="5161817" cy="2622375"/>
            <a:chOff x="0" y="0"/>
            <a:chExt cx="6882422" cy="349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718945" y="2120494"/>
            <a:ext cx="5161817" cy="2622375"/>
            <a:chOff x="0" y="0"/>
            <a:chExt cx="6882422" cy="349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415533" y="2120494"/>
            <a:ext cx="5161817" cy="2622375"/>
            <a:chOff x="0" y="0"/>
            <a:chExt cx="6882422" cy="349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2356" y="5346278"/>
            <a:ext cx="5161817" cy="2622375"/>
            <a:chOff x="0" y="0"/>
            <a:chExt cx="6882422" cy="349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18945" y="5346278"/>
            <a:ext cx="5161817" cy="2622375"/>
            <a:chOff x="0" y="0"/>
            <a:chExt cx="6882422" cy="349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15533" y="5346278"/>
            <a:ext cx="5161817" cy="2622375"/>
            <a:chOff x="0" y="0"/>
            <a:chExt cx="6882422" cy="349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51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88251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99708" y="0"/>
                  </a:lnTo>
                  <a:cubicBezTo>
                    <a:pt x="6621526" y="0"/>
                    <a:pt x="6882511" y="260858"/>
                    <a:pt x="6882511" y="582803"/>
                  </a:cubicBezTo>
                  <a:lnTo>
                    <a:pt x="6882511" y="2913761"/>
                  </a:lnTo>
                  <a:cubicBezTo>
                    <a:pt x="6882511" y="3235579"/>
                    <a:pt x="6621653" y="3496564"/>
                    <a:pt x="629970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What the environment does to pixels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Different conditions destroy different visual cues.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4116" y="2475347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LOW LIGHT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4116" y="3124705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Shot/read noise ↑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4116" y="3793112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SNR ↓ · texture disappears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60704" y="2475347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FOG / HAZE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60704" y="3124705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Scattering + airlight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60704" y="3793112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Contrast ↓ · edges fade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7293" y="2475347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4ADE80"/>
                </a:solidFill>
                <a:latin typeface="Aptos Bold"/>
                <a:ea typeface="Aptos Bold"/>
                <a:cs typeface="Aptos Bold"/>
                <a:sym typeface="Aptos Bold"/>
              </a:rPr>
              <a:t>RAIN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7293" y="3124705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Streaks + wet reflections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7293" y="3793112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Occlusion · false edges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4116" y="5701132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7171"/>
                </a:solidFill>
                <a:latin typeface="Aptos Bold"/>
                <a:ea typeface="Aptos Bold"/>
                <a:cs typeface="Aptos Bold"/>
                <a:sym typeface="Aptos Bold"/>
              </a:rPr>
              <a:t>GLARE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4116" y="6350489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Sensor saturation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4116" y="7018896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Highlights clip · detail lost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60704" y="5701132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MOTION / WIND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0704" y="6350489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Relative motion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60704" y="7018896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Blur · localization error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57293" y="5701132"/>
            <a:ext cx="420966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DUST / SMOKE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7293" y="6350489"/>
            <a:ext cx="4209669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Absorption + scattering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57293" y="7018896"/>
            <a:ext cx="420966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Color/visibility shift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9577" y="8899455"/>
            <a:ext cx="1587738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Failure signature matters: enhancement should target the physics of degradation, not apply one filter to every image.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Visual evidence: measure degradation, don’t just describe 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Use objective image statistics and feature-level evidence.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577" y="2104730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Histogram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09459" y="2095205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Brightness / clipping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0646" y="2104730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Night → left shift; glare → right clipping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577" y="3161690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RMS Contrast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09459" y="3152165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Intensity separation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70646" y="3161690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Fog typically compresses contrast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77" y="4218642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Variance of Laplacian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9459" y="4209117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Sharpness proxy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70646" y="4218642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Blur reduces high-frequency response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577" y="5275602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Edge density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09459" y="5266077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Usable boundaries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70646" y="5275602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Fog/blur can erase object contours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577" y="6332563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PSNR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09459" y="6323038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Pixel fidelity*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70646" y="6332563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Useful with a reference image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577" y="7389514"/>
            <a:ext cx="2837002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SSIM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09459" y="7379989"/>
            <a:ext cx="420966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Structural similarity*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0646" y="7389514"/>
            <a:ext cx="79158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Tracks perceived structural change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9577" y="8624926"/>
            <a:ext cx="16014659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ACC15"/>
                </a:solidFill>
                <a:latin typeface="Aptos"/>
                <a:ea typeface="Aptos"/>
                <a:cs typeface="Aptos"/>
                <a:sym typeface="Aptos"/>
              </a:rPr>
              <a:t>*PSNR/SSIM require a reference or paired clean/degraded image. For field data, combine no-reference metrics with task accuracy.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Real-world failures: when degraded pixels become bad decisions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The cost is task-specific: missed detections, false alarms, poor localization or unsafe control.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2356" y="2051856"/>
            <a:ext cx="16280463" cy="1277160"/>
            <a:chOff x="0" y="0"/>
            <a:chExt cx="21707284" cy="170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7348" cy="1702943"/>
            </a:xfrm>
            <a:custGeom>
              <a:avLst/>
              <a:gdLst/>
              <a:ahLst/>
              <a:cxnLst/>
              <a:rect r="r" b="b" t="t" l="l"/>
              <a:pathLst>
                <a:path h="1702943" w="21707348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1423503" y="0"/>
                  </a:lnTo>
                  <a:cubicBezTo>
                    <a:pt x="21580221" y="0"/>
                    <a:pt x="21707348" y="127127"/>
                    <a:pt x="21707348" y="283845"/>
                  </a:cubicBezTo>
                  <a:lnTo>
                    <a:pt x="21707348" y="1419098"/>
                  </a:lnTo>
                  <a:cubicBezTo>
                    <a:pt x="21707348" y="1575816"/>
                    <a:pt x="21580221" y="1702943"/>
                    <a:pt x="21423503" y="1702943"/>
                  </a:cubicBezTo>
                  <a:lnTo>
                    <a:pt x="283845" y="1702943"/>
                  </a:lnTo>
                  <a:cubicBezTo>
                    <a:pt x="127127" y="1702816"/>
                    <a:pt x="0" y="1575816"/>
                    <a:pt x="0" y="1419098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64116" y="2342283"/>
            <a:ext cx="324879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AUTONOMOUS DRIVING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7156" y="2283181"/>
            <a:ext cx="571961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Fog/night hides pedestrians and lane markings.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1450" y="2283181"/>
            <a:ext cx="544507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Missed detection → unsafe planning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356" y="3671611"/>
            <a:ext cx="16280463" cy="1277160"/>
            <a:chOff x="0" y="0"/>
            <a:chExt cx="21707284" cy="1702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07348" cy="1702943"/>
            </a:xfrm>
            <a:custGeom>
              <a:avLst/>
              <a:gdLst/>
              <a:ahLst/>
              <a:cxnLst/>
              <a:rect r="r" b="b" t="t" l="l"/>
              <a:pathLst>
                <a:path h="1702943" w="21707348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1423503" y="0"/>
                  </a:lnTo>
                  <a:cubicBezTo>
                    <a:pt x="21580221" y="0"/>
                    <a:pt x="21707348" y="127127"/>
                    <a:pt x="21707348" y="283845"/>
                  </a:cubicBezTo>
                  <a:lnTo>
                    <a:pt x="21707348" y="1419098"/>
                  </a:lnTo>
                  <a:cubicBezTo>
                    <a:pt x="21707348" y="1575816"/>
                    <a:pt x="21580221" y="1702943"/>
                    <a:pt x="21423503" y="1702943"/>
                  </a:cubicBezTo>
                  <a:lnTo>
                    <a:pt x="283845" y="1702943"/>
                  </a:lnTo>
                  <a:cubicBezTo>
                    <a:pt x="127127" y="1702816"/>
                    <a:pt x="0" y="1575816"/>
                    <a:pt x="0" y="1419098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64116" y="3962038"/>
            <a:ext cx="324879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CCTV / 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27156" y="3902926"/>
            <a:ext cx="571961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Low light increases noise; glare hides faces/plates.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41450" y="3902926"/>
            <a:ext cx="544507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Recognition confidence falls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2356" y="5291366"/>
            <a:ext cx="16280463" cy="1277160"/>
            <a:chOff x="0" y="0"/>
            <a:chExt cx="21707284" cy="170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07348" cy="1702943"/>
            </a:xfrm>
            <a:custGeom>
              <a:avLst/>
              <a:gdLst/>
              <a:ahLst/>
              <a:cxnLst/>
              <a:rect r="r" b="b" t="t" l="l"/>
              <a:pathLst>
                <a:path h="1702943" w="21707348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1423503" y="0"/>
                  </a:lnTo>
                  <a:cubicBezTo>
                    <a:pt x="21580221" y="0"/>
                    <a:pt x="21707348" y="127127"/>
                    <a:pt x="21707348" y="283845"/>
                  </a:cubicBezTo>
                  <a:lnTo>
                    <a:pt x="21707348" y="1419098"/>
                  </a:lnTo>
                  <a:cubicBezTo>
                    <a:pt x="21707348" y="1575816"/>
                    <a:pt x="21580221" y="1702943"/>
                    <a:pt x="21423503" y="1702943"/>
                  </a:cubicBezTo>
                  <a:lnTo>
                    <a:pt x="283845" y="1702943"/>
                  </a:lnTo>
                  <a:cubicBezTo>
                    <a:pt x="127127" y="1702816"/>
                    <a:pt x="0" y="1575816"/>
                    <a:pt x="0" y="1419098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64116" y="5581793"/>
            <a:ext cx="324879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DRONES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27156" y="5522681"/>
            <a:ext cx="571961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Haze and motion reduce landmarks.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41450" y="5522681"/>
            <a:ext cx="544507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Tracking / navigation drift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2356" y="6911121"/>
            <a:ext cx="16280463" cy="1277160"/>
            <a:chOff x="0" y="0"/>
            <a:chExt cx="21707284" cy="1702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07348" cy="1702943"/>
            </a:xfrm>
            <a:custGeom>
              <a:avLst/>
              <a:gdLst/>
              <a:ahLst/>
              <a:cxnLst/>
              <a:rect r="r" b="b" t="t" l="l"/>
              <a:pathLst>
                <a:path h="1702943" w="21707348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1423503" y="0"/>
                  </a:lnTo>
                  <a:cubicBezTo>
                    <a:pt x="21580221" y="0"/>
                    <a:pt x="21707348" y="127127"/>
                    <a:pt x="21707348" y="283845"/>
                  </a:cubicBezTo>
                  <a:lnTo>
                    <a:pt x="21707348" y="1419098"/>
                  </a:lnTo>
                  <a:cubicBezTo>
                    <a:pt x="21707348" y="1575816"/>
                    <a:pt x="21580221" y="1702943"/>
                    <a:pt x="21423503" y="1702943"/>
                  </a:cubicBezTo>
                  <a:lnTo>
                    <a:pt x="283845" y="1702943"/>
                  </a:lnTo>
                  <a:cubicBezTo>
                    <a:pt x="127127" y="1702816"/>
                    <a:pt x="0" y="1575816"/>
                    <a:pt x="0" y="1419098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64116" y="7201548"/>
            <a:ext cx="324879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AGRICULTURE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27156" y="7142436"/>
            <a:ext cx="5719610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Sun/shadow changes crop color and texture.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41450" y="7142436"/>
            <a:ext cx="544507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Disease/classification errors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8214" y="8830828"/>
            <a:ext cx="1574012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A visually acceptable image is not automatically a machine-vision-safe image.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Mitigation pipeline: fix acquisition first, then pixels, then models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Robust systems combine hardware, preprocessing and training.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984" y="2189131"/>
            <a:ext cx="5093189" cy="5367718"/>
            <a:chOff x="0" y="0"/>
            <a:chExt cx="6790919" cy="71569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90944" cy="7156958"/>
            </a:xfrm>
            <a:custGeom>
              <a:avLst/>
              <a:gdLst/>
              <a:ahLst/>
              <a:cxnLst/>
              <a:rect r="r" b="b" t="t" l="l"/>
              <a:pathLst>
                <a:path h="7156958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6025134"/>
                  </a:lnTo>
                  <a:cubicBezTo>
                    <a:pt x="6790944" y="6650228"/>
                    <a:pt x="6284214" y="7156958"/>
                    <a:pt x="5659120" y="7156958"/>
                  </a:cubicBezTo>
                  <a:lnTo>
                    <a:pt x="1131824" y="7156958"/>
                  </a:lnTo>
                  <a:cubicBezTo>
                    <a:pt x="506730" y="7156958"/>
                    <a:pt x="0" y="6650228"/>
                    <a:pt x="0" y="602513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32744" y="2681249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1 · ACQUIRE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2744" y="3683298"/>
            <a:ext cx="4003767" cy="306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HDR / exposure control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Larger sensor / aperture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IR or thermal sensing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Polarizer / weather housing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5920" y="4506906"/>
            <a:ext cx="39364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87582" y="2189131"/>
            <a:ext cx="5093189" cy="5367718"/>
            <a:chOff x="0" y="0"/>
            <a:chExt cx="6790919" cy="71569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0944" cy="7156958"/>
            </a:xfrm>
            <a:custGeom>
              <a:avLst/>
              <a:gdLst/>
              <a:ahLst/>
              <a:cxnLst/>
              <a:rect r="r" b="b" t="t" l="l"/>
              <a:pathLst>
                <a:path h="7156958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6025134"/>
                  </a:lnTo>
                  <a:cubicBezTo>
                    <a:pt x="6790944" y="6650228"/>
                    <a:pt x="6284214" y="7156958"/>
                    <a:pt x="5659120" y="7156958"/>
                  </a:cubicBezTo>
                  <a:lnTo>
                    <a:pt x="1131824" y="7156958"/>
                  </a:lnTo>
                  <a:cubicBezTo>
                    <a:pt x="506730" y="7156958"/>
                    <a:pt x="0" y="6650228"/>
                    <a:pt x="0" y="602513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229332" y="2681249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2 · ENHANCE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9332" y="3683298"/>
            <a:ext cx="4003767" cy="306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Denoising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CLAHE / gamma correction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Dehazing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Deblurring / stabilization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2508" y="4506906"/>
            <a:ext cx="39364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ABBECF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84170" y="2189131"/>
            <a:ext cx="5093189" cy="5367718"/>
            <a:chOff x="0" y="0"/>
            <a:chExt cx="6790919" cy="71569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90944" cy="7156958"/>
            </a:xfrm>
            <a:custGeom>
              <a:avLst/>
              <a:gdLst/>
              <a:ahLst/>
              <a:cxnLst/>
              <a:rect r="r" b="b" t="t" l="l"/>
              <a:pathLst>
                <a:path h="7156958" w="6790944">
                  <a:moveTo>
                    <a:pt x="0" y="1131824"/>
                  </a:moveTo>
                  <a:cubicBezTo>
                    <a:pt x="0" y="506730"/>
                    <a:pt x="506730" y="0"/>
                    <a:pt x="1131824" y="0"/>
                  </a:cubicBezTo>
                  <a:lnTo>
                    <a:pt x="5659120" y="0"/>
                  </a:lnTo>
                  <a:cubicBezTo>
                    <a:pt x="6284214" y="0"/>
                    <a:pt x="6790944" y="506730"/>
                    <a:pt x="6790944" y="1131824"/>
                  </a:cubicBezTo>
                  <a:lnTo>
                    <a:pt x="6790944" y="6025134"/>
                  </a:lnTo>
                  <a:cubicBezTo>
                    <a:pt x="6790944" y="6650228"/>
                    <a:pt x="6284214" y="7156958"/>
                    <a:pt x="5659120" y="7156958"/>
                  </a:cubicBezTo>
                  <a:lnTo>
                    <a:pt x="1131824" y="7156958"/>
                  </a:lnTo>
                  <a:cubicBezTo>
                    <a:pt x="506730" y="7156958"/>
                    <a:pt x="0" y="6650228"/>
                    <a:pt x="0" y="6025134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925930" y="2681249"/>
            <a:ext cx="407240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4ADE80"/>
                </a:solidFill>
                <a:latin typeface="Aptos Bold"/>
                <a:ea typeface="Aptos Bold"/>
                <a:cs typeface="Aptos Bold"/>
                <a:sym typeface="Aptos Bold"/>
              </a:rPr>
              <a:t>3 · INFER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25930" y="3683298"/>
            <a:ext cx="4003767" cy="306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Weather augmentation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adaptation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Multi-sensor fusion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C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calibration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14" y="8350387"/>
            <a:ext cx="15740120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Best practice: validate the final task metric (mAP / accuracy / tracking error), not only whether the enhanced image looks better.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Mini experiment for the presentation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A reproducible way to prove environmental impact using OpenCV / MATLAB.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2356" y="1983229"/>
            <a:ext cx="10034807" cy="6809022"/>
            <a:chOff x="0" y="0"/>
            <a:chExt cx="13379742" cy="9078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79831" cy="9078723"/>
            </a:xfrm>
            <a:custGeom>
              <a:avLst/>
              <a:gdLst/>
              <a:ahLst/>
              <a:cxnLst/>
              <a:rect r="r" b="b" t="t" l="l"/>
              <a:pathLst>
                <a:path h="9078723" w="13379831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11866626" y="0"/>
                  </a:lnTo>
                  <a:cubicBezTo>
                    <a:pt x="12702286" y="0"/>
                    <a:pt x="13379831" y="677418"/>
                    <a:pt x="13379831" y="1513205"/>
                  </a:cubicBezTo>
                  <a:lnTo>
                    <a:pt x="13379831" y="7565517"/>
                  </a:lnTo>
                  <a:cubicBezTo>
                    <a:pt x="13379831" y="8401177"/>
                    <a:pt x="12702413" y="9078723"/>
                    <a:pt x="11866626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386033" y="1983229"/>
            <a:ext cx="5916787" cy="6809022"/>
            <a:chOff x="0" y="0"/>
            <a:chExt cx="7889049" cy="907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88987" cy="9078723"/>
            </a:xfrm>
            <a:custGeom>
              <a:avLst/>
              <a:gdLst/>
              <a:ahLst/>
              <a:cxnLst/>
              <a:rect r="r" b="b" t="t" l="l"/>
              <a:pathLst>
                <a:path h="9078723" w="7888987">
                  <a:moveTo>
                    <a:pt x="0" y="1314831"/>
                  </a:moveTo>
                  <a:cubicBezTo>
                    <a:pt x="0" y="588645"/>
                    <a:pt x="588645" y="0"/>
                    <a:pt x="1314831" y="0"/>
                  </a:cubicBezTo>
                  <a:lnTo>
                    <a:pt x="6574155" y="0"/>
                  </a:lnTo>
                  <a:cubicBezTo>
                    <a:pt x="7300341" y="0"/>
                    <a:pt x="7888987" y="588645"/>
                    <a:pt x="7888987" y="1314831"/>
                  </a:cubicBezTo>
                  <a:lnTo>
                    <a:pt x="7888987" y="7763891"/>
                  </a:lnTo>
                  <a:cubicBezTo>
                    <a:pt x="7888987" y="8490077"/>
                    <a:pt x="7300341" y="9078723"/>
                    <a:pt x="6574155" y="9078723"/>
                  </a:cubicBezTo>
                  <a:lnTo>
                    <a:pt x="1314831" y="9078723"/>
                  </a:lnTo>
                  <a:cubicBezTo>
                    <a:pt x="588645" y="9078722"/>
                    <a:pt x="0" y="8490077"/>
                    <a:pt x="0" y="7763891"/>
                  </a:cubicBezTo>
                  <a:close/>
                </a:path>
              </a:pathLst>
            </a:custGeom>
            <a:solidFill>
              <a:srgbClr val="121F32"/>
            </a:solidFill>
            <a:ln w="14299" cap="sq">
              <a:solidFill>
                <a:srgbClr val="233A4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32744" y="2489073"/>
            <a:ext cx="873949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EXPERIMENT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744" y="2858005"/>
            <a:ext cx="8739492" cy="419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Capture the same scene in daylight, low light and haze/fog.</a:t>
            </a:r>
          </a:p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Keep camera viewpoint and resolution fixed.</a:t>
            </a:r>
          </a:p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Compute brightness, contrast, sharpness and edge density.</a:t>
            </a:r>
          </a:p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Run the same object detector on every image.</a:t>
            </a:r>
          </a:p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Apply enhancement (CLAHE / denoise / dehaze).</a:t>
            </a:r>
          </a:p>
          <a:p>
            <a:pPr algn="l">
              <a:lnSpc>
                <a:spcPts val="5629"/>
              </a:lnSpc>
            </a:pPr>
            <a:r>
              <a:rPr lang="en-US" sz="2251">
                <a:solidFill>
                  <a:srgbClr val="F2F7FC"/>
                </a:solidFill>
                <a:latin typeface="Aptos"/>
                <a:ea typeface="Aptos"/>
                <a:cs typeface="Aptos"/>
                <a:sym typeface="Aptos"/>
              </a:rPr>
              <a:t>• Compare image metrics + detection confidence before/after.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65057" y="2489073"/>
            <a:ext cx="475873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EXPECTED PATTERN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5057" y="3408769"/>
            <a:ext cx="462147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Clean scene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↑ contrast · ↑ edges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65057" y="4781436"/>
            <a:ext cx="4621473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87171"/>
                </a:solidFill>
                <a:latin typeface="Aptos Bold"/>
                <a:ea typeface="Aptos Bold"/>
                <a:cs typeface="Aptos Bold"/>
                <a:sym typeface="Aptos Bold"/>
              </a:rPr>
              <a:t>Degraded scene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↓ visibility · ↓ confidence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65057" y="6154112"/>
            <a:ext cx="4621473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4ADE80"/>
                </a:solidFill>
                <a:latin typeface="Aptos Bold"/>
                <a:ea typeface="Aptos Bold"/>
                <a:cs typeface="Aptos Bold"/>
                <a:sym typeface="Aptos Bold"/>
              </a:rPr>
              <a:t>Enhanced scene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partial recovery — but lost information cannot always be reconstructed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567338"/>
            <a:ext cx="11897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7283" y="439598"/>
            <a:ext cx="15465590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Takeaway: robustness starts before inference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235" y="1304039"/>
            <a:ext cx="16472068" cy="34319"/>
            <a:chOff x="0" y="0"/>
            <a:chExt cx="21962758" cy="45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2745" cy="45720"/>
            </a:xfrm>
            <a:custGeom>
              <a:avLst/>
              <a:gdLst/>
              <a:ahLst/>
              <a:cxnLst/>
              <a:rect r="r" b="b" t="t" l="l"/>
              <a:pathLst>
                <a:path h="45720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34D3E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283" y="1390936"/>
            <a:ext cx="1519105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Environmental conditions reshape the input distribution seen by computer vision.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42" y="2310632"/>
            <a:ext cx="1560285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b="true">
                <a:solidFill>
                  <a:srgbClr val="34D3EB"/>
                </a:solidFill>
                <a:latin typeface="Aptos Bold"/>
                <a:ea typeface="Aptos Bold"/>
                <a:cs typeface="Aptos Bold"/>
                <a:sym typeface="Aptos Bold"/>
              </a:rPr>
              <a:t>ENVIRONMENT → IMAGE QUALITY → FEATURES → MODEL CONFIDENCE → REAL-WORLD DECISION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16" y="3742411"/>
            <a:ext cx="572091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4979" y="3751936"/>
            <a:ext cx="393513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Understand the physics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4371" y="3751936"/>
            <a:ext cx="983763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Light, scattering, motion and sensor limits explain the failure.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4867999"/>
            <a:ext cx="572091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4979" y="4877524"/>
            <a:ext cx="393513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Quantify the damage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74371" y="4877524"/>
            <a:ext cx="983763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Use histograms, contrast, sharpness, edges and task metrics.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4116" y="5993597"/>
            <a:ext cx="572091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4979" y="6003122"/>
            <a:ext cx="393513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Design for conditions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74371" y="6003122"/>
            <a:ext cx="983763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Improve sensing + enhancement + model robustness together.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4116" y="7119185"/>
            <a:ext cx="572091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ACC15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4979" y="7128710"/>
            <a:ext cx="393513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7FC"/>
                </a:solidFill>
                <a:latin typeface="Aptos Bold"/>
                <a:ea typeface="Aptos Bold"/>
                <a:cs typeface="Aptos Bold"/>
                <a:sym typeface="Aptos Bold"/>
              </a:rPr>
              <a:t>Test where it matters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74371" y="7128710"/>
            <a:ext cx="9837630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BBECF"/>
                </a:solidFill>
                <a:latin typeface="Aptos"/>
                <a:ea typeface="Aptos"/>
                <a:cs typeface="Aptos"/>
                <a:sym typeface="Aptos"/>
              </a:rPr>
              <a:t>Validate across day/night/weather—not only clean benchmark images.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0182" y="3086100"/>
            <a:ext cx="4987636" cy="4114800"/>
          </a:xfrm>
          <a:custGeom>
            <a:avLst/>
            <a:gdLst/>
            <a:ahLst/>
            <a:cxnLst/>
            <a:rect r="r" b="b" t="t" l="l"/>
            <a:pathLst>
              <a:path h="4114800" w="4987636">
                <a:moveTo>
                  <a:pt x="0" y="0"/>
                </a:moveTo>
                <a:lnTo>
                  <a:pt x="4987636" y="0"/>
                </a:lnTo>
                <a:lnTo>
                  <a:pt x="49876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DAHQGb4S2kE</dc:identifier>
  <dcterms:modified xsi:type="dcterms:W3CDTF">2011-08-01T06:04:30Z</dcterms:modified>
  <cp:revision>1</cp:revision>
  <dc:title>ITA0510_Environmental_Conditions_Image_Acquisition.pptx</dc:title>
</cp:coreProperties>
</file>